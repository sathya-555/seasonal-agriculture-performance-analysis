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4" d="100"/>
          <a:sy n="64" d="100"/>
        </p:scale>
        <p:origin x="48" y="1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athya-555/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83914"/>
            <a:ext cx="8410892" cy="861497"/>
          </a:xfrm>
        </p:spPr>
        <p:txBody>
          <a:bodyPr vert="horz" lIns="91440" tIns="45720" rIns="91440" bIns="45720" rtlCol="0" anchor="t">
            <a:normAutofit/>
          </a:bodyPr>
          <a:lstStyle/>
          <a:p>
            <a:r>
              <a:rPr lang="en-US" b="0" dirty="0">
                <a:solidFill>
                  <a:schemeClr val="tx1"/>
                </a:solidFill>
              </a:rPr>
              <a:t>Student Name : Sathya C </a:t>
            </a:r>
            <a:endParaRPr lang="en-IN" b="0" dirty="0">
              <a:solidFill>
                <a:schemeClr val="tx1"/>
              </a:solidFill>
            </a:endParaRPr>
          </a:p>
          <a:p>
            <a:r>
              <a:rPr lang="en-US" b="0" dirty="0">
                <a:solidFill>
                  <a:schemeClr val="tx1"/>
                </a:solidFill>
              </a:rPr>
              <a:t>College Name : St. Joseph’s College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034596" cy="743448"/>
          </a:xfrm>
        </p:spPr>
        <p:txBody>
          <a:bodyPr>
            <a:normAutofit fontScale="90000"/>
          </a:bodyPr>
          <a:lstStyle/>
          <a:p>
            <a:r>
              <a:rPr lang="en-GB" sz="3200" dirty="0"/>
              <a:t>Project Title - </a:t>
            </a:r>
            <a:r>
              <a:rPr lang="en-IN"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14850"/>
            <a:ext cx="5543868" cy="369332"/>
          </a:xfrm>
          <a:prstGeom prst="rect">
            <a:avLst/>
          </a:prstGeom>
          <a:noFill/>
        </p:spPr>
        <p:txBody>
          <a:bodyPr wrap="square" rtlCol="0">
            <a:spAutoFit/>
          </a:bodyPr>
          <a:lstStyle/>
          <a:p>
            <a:r>
              <a:rPr lang="en-US" b="1" dirty="0"/>
              <a:t>AICTE STU ID : </a:t>
            </a:r>
            <a:r>
              <a:rPr lang="en-IN" dirty="0"/>
              <a:t>STU6898cebe798d31754844862</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5" name="Title 3">
            <a:extLst>
              <a:ext uri="{FF2B5EF4-FFF2-40B4-BE49-F238E27FC236}">
                <a16:creationId xmlns:a16="http://schemas.microsoft.com/office/drawing/2014/main" id="{6D38D2E5-6111-3087-75FC-907709DB6130}"/>
              </a:ext>
            </a:extLst>
          </p:cNvPr>
          <p:cNvSpPr>
            <a:spLocks noGrp="1"/>
          </p:cNvSpPr>
          <p:nvPr>
            <p:ph type="title"/>
          </p:nvPr>
        </p:nvSpPr>
        <p:spPr>
          <a:xfrm>
            <a:off x="754602" y="550417"/>
            <a:ext cx="6995604" cy="790111"/>
          </a:xfrm>
        </p:spPr>
        <p:txBody>
          <a:bodyPr>
            <a:normAutofit fontScale="90000"/>
          </a:bodyPr>
          <a:lstStyle/>
          <a:p>
            <a:r>
              <a:rPr lang="en-US" dirty="0"/>
              <a:t>PROJECT DESCRIPTION</a:t>
            </a:r>
            <a:endParaRPr lang="en-IN" dirty="0"/>
          </a:p>
        </p:txBody>
      </p:sp>
      <p:sp>
        <p:nvSpPr>
          <p:cNvPr id="21" name="Rectangle 8">
            <a:extLst>
              <a:ext uri="{FF2B5EF4-FFF2-40B4-BE49-F238E27FC236}">
                <a16:creationId xmlns:a16="http://schemas.microsoft.com/office/drawing/2014/main" id="{A56196BF-866B-915E-B112-6A309637200F}"/>
              </a:ext>
            </a:extLst>
          </p:cNvPr>
          <p:cNvSpPr>
            <a:spLocks noGrp="1" noChangeArrowheads="1"/>
          </p:cNvSpPr>
          <p:nvPr>
            <p:ph type="body" sz="quarter" idx="12"/>
          </p:nvPr>
        </p:nvSpPr>
        <p:spPr bwMode="auto">
          <a:xfrm>
            <a:off x="675957" y="1806161"/>
            <a:ext cx="9001125" cy="35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project analyzes agricultural performance across different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compares </a:t>
            </a:r>
            <a:r>
              <a:rPr kumimoji="0" lang="en-US" altLang="en-US" sz="1800" b="1" i="0" u="none" strike="noStrike" cap="none" normalizeH="0" baseline="0" dirty="0">
                <a:ln>
                  <a:noFill/>
                </a:ln>
                <a:solidFill>
                  <a:schemeClr val="tx1"/>
                </a:solidFill>
                <a:effectLst/>
                <a:latin typeface="Arial" panose="020B0604020202020204" pitchFamily="34" charset="0"/>
              </a:rPr>
              <a:t>Kharif, Rabi and Zaid</a:t>
            </a:r>
            <a:r>
              <a:rPr kumimoji="0" lang="en-US" altLang="en-US" sz="1800" b="0" i="0" u="none" strike="noStrike" cap="none" normalizeH="0" baseline="0" dirty="0">
                <a:ln>
                  <a:noFill/>
                </a:ln>
                <a:solidFill>
                  <a:schemeClr val="tx1"/>
                </a:solidFill>
                <a:effectLst/>
                <a:latin typeface="Arial" panose="020B0604020202020204" pitchFamily="34" charset="0"/>
              </a:rPr>
              <a:t>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analysis focuses on </a:t>
            </a:r>
            <a:r>
              <a:rPr kumimoji="0" lang="en-US" altLang="en-US" sz="1800" b="1" i="0" u="none" strike="noStrike" cap="none" normalizeH="0" baseline="0" dirty="0">
                <a:ln>
                  <a:noFill/>
                </a:ln>
                <a:solidFill>
                  <a:schemeClr val="tx1"/>
                </a:solidFill>
                <a:effectLst/>
                <a:latin typeface="Arial" panose="020B0604020202020204" pitchFamily="34" charset="0"/>
              </a:rPr>
              <a:t>yield, production, water usage, revenue, cost and profit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also studies environmental factors like </a:t>
            </a:r>
            <a:r>
              <a:rPr kumimoji="0" lang="en-US" altLang="en-US" sz="1800" b="1" i="0" u="none" strike="noStrike" cap="none" normalizeH="0" baseline="0" dirty="0">
                <a:ln>
                  <a:noFill/>
                </a:ln>
                <a:solidFill>
                  <a:schemeClr val="tx1"/>
                </a:solidFill>
                <a:effectLst/>
                <a:latin typeface="Arial" panose="020B0604020202020204" pitchFamily="34" charset="0"/>
              </a:rPr>
              <a:t>rainfall and temperature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goal is to identify seasonal patterns and useful insights.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B7EEDD6C-CEAC-53C4-86E6-431FE7DFBA02}"/>
              </a:ext>
            </a:extLst>
          </p:cNvPr>
          <p:cNvSpPr>
            <a:spLocks noGrp="1" noChangeArrowheads="1"/>
          </p:cNvSpPr>
          <p:nvPr>
            <p:ph type="body" sz="quarter" idx="12"/>
          </p:nvPr>
        </p:nvSpPr>
        <p:spPr bwMode="auto">
          <a:xfrm>
            <a:off x="721359" y="2033891"/>
            <a:ext cx="878072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Farmers</a:t>
            </a:r>
            <a:r>
              <a:rPr kumimoji="0" lang="en-US" altLang="en-US" sz="1800" b="0" i="0" u="none" strike="noStrike" cap="none" normalizeH="0" baseline="0" dirty="0">
                <a:ln>
                  <a:noFill/>
                </a:ln>
                <a:solidFill>
                  <a:schemeClr val="tx1"/>
                </a:solidFill>
                <a:effectLst/>
                <a:latin typeface="Arial" panose="020B0604020202020204" pitchFamily="34" charset="0"/>
              </a:rPr>
              <a:t> – To choose suitable crops and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Government Departments</a:t>
            </a:r>
            <a:r>
              <a:rPr kumimoji="0" lang="en-US" altLang="en-US" sz="1800" b="0" i="0" u="none" strike="noStrike" cap="none" normalizeH="0" baseline="0" dirty="0">
                <a:ln>
                  <a:noFill/>
                </a:ln>
                <a:solidFill>
                  <a:schemeClr val="tx1"/>
                </a:solidFill>
                <a:effectLst/>
                <a:latin typeface="Arial" panose="020B0604020202020204" pitchFamily="34" charset="0"/>
              </a:rPr>
              <a:t> – For agricultural planning and resource management.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Agricultural Consultants</a:t>
            </a:r>
            <a:r>
              <a:rPr kumimoji="0" lang="en-US" altLang="en-US" sz="1800" b="0" i="0" u="none" strike="noStrike" cap="none" normalizeH="0" baseline="0" dirty="0">
                <a:ln>
                  <a:noFill/>
                </a:ln>
                <a:solidFill>
                  <a:schemeClr val="tx1"/>
                </a:solidFill>
                <a:effectLst/>
                <a:latin typeface="Arial" panose="020B0604020202020204" pitchFamily="34" charset="0"/>
              </a:rPr>
              <a:t> – To provide better farming advice.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Agribusiness Companies</a:t>
            </a:r>
            <a:r>
              <a:rPr kumimoji="0" lang="en-US" altLang="en-US" sz="1800" b="0" i="0" u="none" strike="noStrike" cap="none" normalizeH="0" baseline="0" dirty="0">
                <a:ln>
                  <a:noFill/>
                </a:ln>
                <a:solidFill>
                  <a:schemeClr val="tx1"/>
                </a:solidFill>
                <a:effectLst/>
                <a:latin typeface="Arial" panose="020B0604020202020204" pitchFamily="34" charset="0"/>
              </a:rPr>
              <a:t> – To understand production and market trends.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Researchers &amp; Students</a:t>
            </a:r>
            <a:r>
              <a:rPr kumimoji="0" lang="en-US" altLang="en-US" sz="1800" b="0" i="0" u="none" strike="noStrike" cap="none" normalizeH="0" baseline="0" dirty="0">
                <a:ln>
                  <a:noFill/>
                </a:ln>
                <a:solidFill>
                  <a:schemeClr val="tx1"/>
                </a:solidFill>
                <a:effectLst/>
                <a:latin typeface="Arial" panose="020B0604020202020204" pitchFamily="34" charset="0"/>
              </a:rPr>
              <a:t> – For agricultural research and analysis.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fontScale="90000"/>
          </a:bodyPr>
          <a:lstStyle/>
          <a:p>
            <a:r>
              <a:rPr lang="en-US" dirty="0"/>
              <a:t>TECHNOLOGY USED</a:t>
            </a:r>
          </a:p>
        </p:txBody>
      </p:sp>
      <p:sp>
        <p:nvSpPr>
          <p:cNvPr id="3" name="Rectangle 1">
            <a:extLst>
              <a:ext uri="{FF2B5EF4-FFF2-40B4-BE49-F238E27FC236}">
                <a16:creationId xmlns:a16="http://schemas.microsoft.com/office/drawing/2014/main" id="{6E8F8470-C8CB-5C46-FCB3-04AC317689E0}"/>
              </a:ext>
            </a:extLst>
          </p:cNvPr>
          <p:cNvSpPr>
            <a:spLocks noGrp="1" noChangeArrowheads="1"/>
          </p:cNvSpPr>
          <p:nvPr>
            <p:ph type="body" sz="quarter" idx="12"/>
          </p:nvPr>
        </p:nvSpPr>
        <p:spPr bwMode="auto">
          <a:xfrm>
            <a:off x="914400" y="1763355"/>
            <a:ext cx="840434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Python</a:t>
            </a:r>
            <a:r>
              <a:rPr kumimoji="0" lang="en-US" altLang="en-US" sz="1800" b="0" i="0" u="none" strike="noStrike" cap="none" normalizeH="0" baseline="0">
                <a:ln>
                  <a:noFill/>
                </a:ln>
                <a:solidFill>
                  <a:schemeClr val="tx1"/>
                </a:solidFill>
                <a:effectLst/>
                <a:latin typeface="Arial" panose="020B0604020202020204" pitchFamily="34" charset="0"/>
              </a:rPr>
              <a:t> – Main programming language.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Pandas</a:t>
            </a:r>
            <a:r>
              <a:rPr kumimoji="0" lang="en-US" altLang="en-US" sz="1800" b="0" i="0" u="none" strike="noStrike" cap="none" normalizeH="0" baseline="0">
                <a:ln>
                  <a:noFill/>
                </a:ln>
                <a:solidFill>
                  <a:schemeClr val="tx1"/>
                </a:solidFill>
                <a:effectLst/>
                <a:latin typeface="Arial" panose="020B0604020202020204" pitchFamily="34" charset="0"/>
              </a:rPr>
              <a:t> – Data cleaning and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NumPy</a:t>
            </a:r>
            <a:r>
              <a:rPr kumimoji="0" lang="en-US" altLang="en-US" sz="1800" b="0" i="0" u="none" strike="noStrike" cap="none" normalizeH="0" baseline="0">
                <a:ln>
                  <a:noFill/>
                </a:ln>
                <a:solidFill>
                  <a:schemeClr val="tx1"/>
                </a:solidFill>
                <a:effectLst/>
                <a:latin typeface="Arial" panose="020B0604020202020204" pitchFamily="34" charset="0"/>
              </a:rPr>
              <a:t> – Numerical calculations.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Matplotlib</a:t>
            </a:r>
            <a:r>
              <a:rPr kumimoji="0" lang="en-US" altLang="en-US" sz="1800" b="0" i="0" u="none" strike="noStrike" cap="none" normalizeH="0" baseline="0">
                <a:ln>
                  <a:noFill/>
                </a:ln>
                <a:solidFill>
                  <a:schemeClr val="tx1"/>
                </a:solidFill>
                <a:effectLst/>
                <a:latin typeface="Arial" panose="020B0604020202020204" pitchFamily="34" charset="0"/>
              </a:rPr>
              <a:t> – Creating charts.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Seaborn</a:t>
            </a:r>
            <a:r>
              <a:rPr kumimoji="0" lang="en-US" altLang="en-US" sz="1800" b="0" i="0" u="none" strike="noStrike" cap="none" normalizeH="0" baseline="0">
                <a:ln>
                  <a:noFill/>
                </a:ln>
                <a:solidFill>
                  <a:schemeClr val="tx1"/>
                </a:solidFill>
                <a:effectLst/>
                <a:latin typeface="Arial" panose="020B0604020202020204" pitchFamily="34" charset="0"/>
              </a:rPr>
              <a:t> – Data visualization.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Jupyter Notebook / VS Code</a:t>
            </a:r>
            <a:r>
              <a:rPr kumimoji="0" lang="en-US" altLang="en-US" sz="1800" b="0" i="0" u="none" strike="noStrike" cap="none" normalizeH="0" baseline="0">
                <a:ln>
                  <a:noFill/>
                </a:ln>
                <a:solidFill>
                  <a:schemeClr val="tx1"/>
                </a:solidFill>
                <a:effectLst/>
                <a:latin typeface="Arial" panose="020B0604020202020204" pitchFamily="34" charset="0"/>
              </a:rPr>
              <a:t> – Development environment.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F31C6CE-BA62-487A-2E72-B418206DEC67}"/>
              </a:ext>
            </a:extLst>
          </p:cNvPr>
          <p:cNvPicPr>
            <a:picLocks noChangeAspect="1"/>
          </p:cNvPicPr>
          <p:nvPr/>
        </p:nvPicPr>
        <p:blipFill>
          <a:blip r:embed="rId3"/>
          <a:stretch>
            <a:fillRect/>
          </a:stretch>
        </p:blipFill>
        <p:spPr>
          <a:xfrm>
            <a:off x="983327" y="1275371"/>
            <a:ext cx="10225345" cy="521204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E1D0E20-5A80-B38C-145B-45D6524C128E}"/>
              </a:ext>
            </a:extLst>
          </p:cNvPr>
          <p:cNvPicPr>
            <a:picLocks noChangeAspect="1"/>
          </p:cNvPicPr>
          <p:nvPr/>
        </p:nvPicPr>
        <p:blipFill>
          <a:blip r:embed="rId3"/>
          <a:stretch>
            <a:fillRect/>
          </a:stretch>
        </p:blipFill>
        <p:spPr>
          <a:xfrm>
            <a:off x="708236" y="1131736"/>
            <a:ext cx="10775527" cy="543670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5EAFCBE-5910-0874-38F7-7C9E1260D87B}"/>
              </a:ext>
            </a:extLst>
          </p:cNvPr>
          <p:cNvPicPr>
            <a:picLocks noChangeAspect="1"/>
          </p:cNvPicPr>
          <p:nvPr/>
        </p:nvPicPr>
        <p:blipFill>
          <a:blip r:embed="rId3"/>
          <a:stretch>
            <a:fillRect/>
          </a:stretch>
        </p:blipFill>
        <p:spPr>
          <a:xfrm>
            <a:off x="1199236" y="1391478"/>
            <a:ext cx="9793527" cy="500932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9D93FE99-367B-E8FB-F472-9D1BF3128FB9}"/>
              </a:ext>
            </a:extLst>
          </p:cNvPr>
          <p:cNvPicPr>
            <a:picLocks noChangeAspect="1"/>
          </p:cNvPicPr>
          <p:nvPr/>
        </p:nvPicPr>
        <p:blipFill>
          <a:blip r:embed="rId3"/>
          <a:stretch>
            <a:fillRect/>
          </a:stretch>
        </p:blipFill>
        <p:spPr>
          <a:xfrm>
            <a:off x="816145" y="1470991"/>
            <a:ext cx="10559710" cy="500093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8A650B0-DB9F-8B06-171D-1E003682E2FD}"/>
              </a:ext>
            </a:extLst>
          </p:cNvPr>
          <p:cNvPicPr>
            <a:picLocks noChangeAspect="1"/>
          </p:cNvPicPr>
          <p:nvPr/>
        </p:nvPicPr>
        <p:blipFill>
          <a:blip r:embed="rId3"/>
          <a:stretch>
            <a:fillRect/>
          </a:stretch>
        </p:blipFill>
        <p:spPr>
          <a:xfrm>
            <a:off x="477078" y="1275371"/>
            <a:ext cx="11714922" cy="528268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10" name="Rectangle 3">
            <a:extLst>
              <a:ext uri="{FF2B5EF4-FFF2-40B4-BE49-F238E27FC236}">
                <a16:creationId xmlns:a16="http://schemas.microsoft.com/office/drawing/2014/main" id="{53F12644-EAC2-E563-0B2D-7197CF2FFC02}"/>
              </a:ext>
            </a:extLst>
          </p:cNvPr>
          <p:cNvSpPr>
            <a:spLocks noChangeArrowheads="1"/>
          </p:cNvSpPr>
          <p:nvPr/>
        </p:nvSpPr>
        <p:spPr bwMode="auto">
          <a:xfrm>
            <a:off x="834887" y="2261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 </a:t>
            </a:r>
            <a:r>
              <a:rPr kumimoji="0" lang="en-US" altLang="en-US" sz="1800" b="1" i="0" u="none" strike="noStrike" cap="none" normalizeH="0" baseline="0">
                <a:ln>
                  <a:noFill/>
                </a:ln>
                <a:solidFill>
                  <a:schemeClr val="tx1"/>
                </a:solidFill>
                <a:effectLst/>
                <a:latin typeface="Arial" panose="020B0604020202020204" pitchFamily="34" charset="0"/>
              </a:rPr>
              <a:t>Machine Learning</a:t>
            </a:r>
            <a:r>
              <a:rPr kumimoji="0" lang="en-US" altLang="en-US" sz="1800" b="0" i="0" u="none" strike="noStrike" cap="none" normalizeH="0" baseline="0">
                <a:ln>
                  <a:noFill/>
                </a:ln>
                <a:solidFill>
                  <a:schemeClr val="tx1"/>
                </a:solidFill>
                <a:effectLst/>
                <a:latin typeface="Arial" panose="020B0604020202020204" pitchFamily="34" charset="0"/>
              </a:rPr>
              <a:t> to predict crop yield.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Predict </a:t>
            </a:r>
            <a:r>
              <a:rPr kumimoji="0" lang="en-US" altLang="en-US" sz="1800" b="1" i="0" u="none" strike="noStrike" cap="none" normalizeH="0" baseline="0">
                <a:ln>
                  <a:noFill/>
                </a:ln>
                <a:solidFill>
                  <a:schemeClr val="tx1"/>
                </a:solidFill>
                <a:effectLst/>
                <a:latin typeface="Arial" panose="020B0604020202020204" pitchFamily="34" charset="0"/>
              </a:rPr>
              <a:t>future profit and production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Integrate </a:t>
            </a:r>
            <a:r>
              <a:rPr kumimoji="0" lang="en-US" altLang="en-US" sz="1800" b="1" i="0" u="none" strike="noStrike" cap="none" normalizeH="0" baseline="0">
                <a:ln>
                  <a:noFill/>
                </a:ln>
                <a:solidFill>
                  <a:schemeClr val="tx1"/>
                </a:solidFill>
                <a:effectLst/>
                <a:latin typeface="Arial" panose="020B0604020202020204" pitchFamily="34" charset="0"/>
              </a:rPr>
              <a:t>real-time weather data</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 </a:t>
            </a:r>
            <a:r>
              <a:rPr kumimoji="0" lang="en-US" altLang="en-US" sz="1800" b="1" i="0" u="none" strike="noStrike" cap="none" normalizeH="0" baseline="0">
                <a:ln>
                  <a:noFill/>
                </a:ln>
                <a:solidFill>
                  <a:schemeClr val="tx1"/>
                </a:solidFill>
                <a:effectLst/>
                <a:latin typeface="Arial" panose="020B0604020202020204" pitchFamily="34" charset="0"/>
              </a:rPr>
              <a:t>IoT sensors</a:t>
            </a:r>
            <a:r>
              <a:rPr kumimoji="0" lang="en-US" altLang="en-US" sz="1800" b="0" i="0" u="none" strike="noStrike" cap="none" normalizeH="0" baseline="0">
                <a:ln>
                  <a:noFill/>
                </a:ln>
                <a:solidFill>
                  <a:schemeClr val="tx1"/>
                </a:solidFill>
                <a:effectLst/>
                <a:latin typeface="Arial" panose="020B0604020202020204" pitchFamily="34" charset="0"/>
              </a:rPr>
              <a:t> for soil and water monitoring.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Create an interactive </a:t>
            </a:r>
            <a:r>
              <a:rPr kumimoji="0" lang="en-US" altLang="en-US" sz="1800" b="1" i="0" u="none" strike="noStrike" cap="none" normalizeH="0" baseline="0">
                <a:ln>
                  <a:noFill/>
                </a:ln>
                <a:solidFill>
                  <a:schemeClr val="tx1"/>
                </a:solidFill>
                <a:effectLst/>
                <a:latin typeface="Arial" panose="020B0604020202020204" pitchFamily="34" charset="0"/>
              </a:rPr>
              <a:t>Power BI dashboard</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Develop a </a:t>
            </a:r>
            <a:r>
              <a:rPr kumimoji="0" lang="en-US" altLang="en-US" sz="1800" b="1" i="0" u="none" strike="noStrike" cap="none" normalizeH="0" baseline="0">
                <a:ln>
                  <a:noFill/>
                </a:ln>
                <a:solidFill>
                  <a:schemeClr val="tx1"/>
                </a:solidFill>
                <a:effectLst/>
                <a:latin typeface="Arial" panose="020B0604020202020204" pitchFamily="34" charset="0"/>
              </a:rPr>
              <a:t>smart farming application</a:t>
            </a:r>
            <a:r>
              <a:rPr kumimoji="0" lang="en-US" altLang="en-US" sz="18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923330"/>
          </a:xfrm>
          <a:prstGeom prst="rect">
            <a:avLst/>
          </a:prstGeom>
          <a:noFill/>
        </p:spPr>
        <p:txBody>
          <a:bodyPr wrap="square">
            <a:spAutoFit/>
          </a:bodyPr>
          <a:lstStyle/>
          <a:p>
            <a:r>
              <a:rPr lang="en-US" dirty="0">
                <a:hlinkClick r:id="rId3"/>
              </a:rPr>
              <a:t>https://github.com/sathya-555/Seasonal-Agriculture-Performance-Analysis.git</a:t>
            </a:r>
            <a:endParaRPr lang="en-US" dirty="0"/>
          </a:p>
          <a:p>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479B67C-2868-E82D-F991-73191AF43C95}"/>
              </a:ext>
            </a:extLst>
          </p:cNvPr>
          <p:cNvPicPr>
            <a:picLocks noChangeAspect="1"/>
          </p:cNvPicPr>
          <p:nvPr/>
        </p:nvPicPr>
        <p:blipFill>
          <a:blip r:embed="rId3"/>
          <a:stretch>
            <a:fillRect/>
          </a:stretch>
        </p:blipFill>
        <p:spPr>
          <a:xfrm>
            <a:off x="1196548" y="1470991"/>
            <a:ext cx="9408504" cy="519396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1426</TotalTime>
  <Words>348</Words>
  <Application>Microsoft Office PowerPoint</Application>
  <PresentationFormat>Widescreen</PresentationFormat>
  <Paragraphs>46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ADMIN</cp:lastModifiedBy>
  <cp:revision>100</cp:revision>
  <dcterms:created xsi:type="dcterms:W3CDTF">2021-07-11T13:13:15Z</dcterms:created>
  <dcterms:modified xsi:type="dcterms:W3CDTF">2026-09-05T07:40:58Z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